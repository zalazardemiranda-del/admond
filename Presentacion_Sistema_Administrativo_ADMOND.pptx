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 de Jesus Perez Arana" userId="9e4ea40cfe1bdf45" providerId="LiveId" clId="{577BE375-2B28-4889-BB3C-B10C3805386F}"/>
    <pc:docChg chg="modSld">
      <pc:chgData name="Maria de Jesus Perez Arana" userId="9e4ea40cfe1bdf45" providerId="LiveId" clId="{577BE375-2B28-4889-BB3C-B10C3805386F}" dt="2026-10-05T15:54:07.011" v="15" actId="20577"/>
      <pc:docMkLst>
        <pc:docMk/>
      </pc:docMkLst>
      <pc:sldChg chg="modSp mod">
        <pc:chgData name="Maria de Jesus Perez Arana" userId="9e4ea40cfe1bdf45" providerId="LiveId" clId="{577BE375-2B28-4889-BB3C-B10C3805386F}" dt="2026-10-05T15:54:07.011" v="15" actId="20577"/>
        <pc:sldMkLst>
          <pc:docMk/>
          <pc:sldMk cId="0" sldId="257"/>
        </pc:sldMkLst>
        <pc:spChg chg="mod">
          <ac:chgData name="Maria de Jesus Perez Arana" userId="9e4ea40cfe1bdf45" providerId="LiveId" clId="{577BE375-2B28-4889-BB3C-B10C3805386F}" dt="2026-10-05T15:54:07.011" v="15" actId="20577"/>
          <ac:spMkLst>
            <pc:docMk/>
            <pc:sldMk cId="0" sldId="257"/>
            <ac:spMk id="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82F6"/>
                </a:solidFill>
                <a:latin typeface="Segoe UI"/>
              </a:defRPr>
            </a:pPr>
            <a:r>
              <a:t>SISTEMA INTEGRAL DE GESTIÓN EMPRESARIAL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ADMOND | Central de Operaciones &amp; Administración</a:t>
            </a:r>
          </a:p>
          <a:p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La solución unificada que optimiza la productividad, comunicación interna, supervisión de tareas y finanzas esenciales de su empresa.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120640"/>
            <a:ext cx="3931920" cy="777240"/>
          </a:xfrm>
          <a:prstGeom prst="roundRect">
            <a:avLst/>
          </a:prstGeom>
          <a:solidFill>
            <a:srgbClr val="2563E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DISPONIBLE PARA iOS Y ANDROID</a:t>
            </a:r>
          </a:p>
          <a:p>
            <a:pPr>
              <a:defRPr sz="1000">
                <a:solidFill>
                  <a:srgbClr val="DBEAFE"/>
                </a:solidFill>
                <a:latin typeface="Segoe UI"/>
              </a:defRPr>
            </a:pPr>
            <a:r>
              <a:t>Acceso móvil nativo en smartphones &amp; tablets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5120640"/>
            <a:ext cx="329184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ADMINISTRACIÓN ESENCIAL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Control ágil de flujo, proveedores y nómina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5120640"/>
            <a:ext cx="27432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CLOUD 24/7 EN TIEMPO REAL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Seguridad y roles de usuario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CONTEXTO EMPRESARIAL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¿Por qué las empresas necesitan una plataforma centralizada?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Desafíos cotidianos en la operación y cómo transformarlos en eficiencia medible.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400"/>
              </a:spcAft>
              <a:defRPr sz="1500" b="1">
                <a:solidFill>
                  <a:srgbClr val="B91C1C"/>
                </a:solidFill>
                <a:latin typeface="Segoe UI"/>
              </a:defRPr>
            </a:pPr>
            <a:r>
              <a:t>EL MODELO TRADICIONAL Y DISPERSO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[!] WhatsApp no es una herramienta de trabajo: </a:t>
            </a:r>
            <a:r>
              <a:rPr sz="1050" b="0">
                <a:solidFill>
                  <a:srgbClr val="475569"/>
                </a:solidFill>
                <a:latin typeface="Segoe UI"/>
              </a:rPr>
              <a:t>Instrucciones que se pierden entre chats personales, sin trazabilidad ni responsables claros.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[!] Hojas de cálculo vulnerables: </a:t>
            </a:r>
            <a:r>
              <a:rPr sz="1050" b="0">
                <a:solidFill>
                  <a:srgbClr val="475569"/>
                </a:solidFill>
                <a:latin typeface="Segoe UI"/>
              </a:rPr>
              <a:t>Finanzas y nóminas en Excels aislados, propensos a errores humanos, pérdidas de datos y duplicidad.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[!] Falta de visibilidad gerencial: </a:t>
            </a:r>
            <a:r>
              <a:rPr sz="1050" b="0">
                <a:solidFill>
                  <a:srgbClr val="475569"/>
                </a:solidFill>
                <a:latin typeface="Segoe UI"/>
              </a:rPr>
              <a:t>La dirección desconoce el estatus exacto de las tareas diarias hasta que ocurre un problema.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[!] Sistemas complejos y sobrecargados: </a:t>
            </a:r>
            <a:r>
              <a:rPr sz="1050" b="0">
                <a:solidFill>
                  <a:srgbClr val="475569"/>
                </a:solidFill>
                <a:latin typeface="Segoe UI"/>
              </a:rPr>
              <a:t>ERPs tradicionales lentos, costosos y con funciones innecesarias que los empleados no usan.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512064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400"/>
              </a:spcAft>
              <a:defRPr sz="1500" b="1">
                <a:solidFill>
                  <a:srgbClr val="059669"/>
                </a:solidFill>
                <a:latin typeface="Segoe UI"/>
              </a:defRPr>
            </a:pPr>
            <a:r>
              <a:rPr dirty="0"/>
              <a:t>LA RESPUESTA: PLATAFORMA INTEGRAL ADMOND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 Un solo </a:t>
            </a:r>
            <a:r>
              <a:rPr dirty="0" err="1"/>
              <a:t>centro</a:t>
            </a:r>
            <a:r>
              <a:rPr dirty="0"/>
              <a:t> de </a:t>
            </a:r>
            <a:r>
              <a:rPr dirty="0" err="1"/>
              <a:t>comando</a:t>
            </a:r>
            <a:r>
              <a:rPr dirty="0"/>
              <a:t>: 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Tareas, chat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corporativo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correos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reuniones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finanzas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conectadas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en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un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mismo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lugar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 Administración </a:t>
            </a:r>
            <a:r>
              <a:rPr dirty="0" err="1"/>
              <a:t>básica</a:t>
            </a:r>
            <a:r>
              <a:rPr dirty="0"/>
              <a:t> y </a:t>
            </a:r>
            <a:r>
              <a:rPr dirty="0" err="1"/>
              <a:t>efectiva</a:t>
            </a:r>
            <a:r>
              <a:rPr dirty="0"/>
              <a:t>: 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Lo indispensable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que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necesita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una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empresa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para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fluir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: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caja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pagos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nómina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quincenal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y folios.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Disponibilidad</a:t>
            </a:r>
            <a:r>
              <a:rPr dirty="0"/>
              <a:t> total </a:t>
            </a:r>
            <a:r>
              <a:rPr dirty="0" err="1"/>
              <a:t>en</a:t>
            </a:r>
            <a:r>
              <a:rPr dirty="0"/>
              <a:t> iOS y Android: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Directivos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colaboradores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operan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monitorean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desde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cualquier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teléfono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, tablet o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computadora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Información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 real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nube</a:t>
            </a:r>
            <a:r>
              <a:rPr dirty="0"/>
              <a:t>: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Reportes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visuales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instantáneos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para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tomar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decisiones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gerenciales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con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datos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 100% </a:t>
            </a:r>
            <a:r>
              <a:rPr sz="1050" b="0" dirty="0" err="1">
                <a:solidFill>
                  <a:srgbClr val="475569"/>
                </a:solidFill>
                <a:latin typeface="Segoe UI"/>
              </a:rPr>
              <a:t>actualizados</a:t>
            </a:r>
            <a:r>
              <a:rPr sz="1050" b="0" dirty="0">
                <a:solidFill>
                  <a:srgbClr val="475569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MAPA DE LA PLATAFORMA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Todos los Módulos Diseñados para Trabajar en Armonía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Estructura modular completa que cubre cada aspecto de la gestión diaria de la empresa.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3328416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MÓDULO 01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TABLERO DE TAREAS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Asignación, prioridades (Alta/Media/Baja), estados de avance y cumplimiento de objetivos por colaborador.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332841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MÓDULO 02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CHAT INTERNO CORPORATIVO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Canales departamentales, grupos por proyecto, mensajería instantánea y transferencia de archivos seguros.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5696" y="1920240"/>
            <a:ext cx="332841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19872" y="1920240"/>
            <a:ext cx="3328416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MÓDULO 03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CENTRO DE CORREOS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Bandeja integrada para lectura y envío de correos corporativos y seguimiento a clientes sin salir de la app.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920240"/>
            <a:ext cx="332841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3328416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MÓDULO 04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AGENDA Y REUNIONES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Calendarización de juntas de equipo, recordatorios y coordinación de videoconferencias.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97680"/>
            <a:ext cx="332841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25696" y="4297680"/>
            <a:ext cx="3328416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MÓDULO 05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ADMINISTRACIÓN BÁSICA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Control ágil de flujo de caja, cuentas por pagar a proveedores, nómina quincenal y folios consecutivos.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25696" y="4297680"/>
            <a:ext cx="3328416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19872" y="4297680"/>
            <a:ext cx="3328416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MÓDULO 06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USUARIOS &amp; DISPOSITIVOS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Gestión de roles y permisos jerárquicos, con acceso pleno desde apps móviles iOS y Android.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4297680"/>
            <a:ext cx="332841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MÓDULO DE PRODUCTIVIDAD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Tablero de Tareas: Control Total de la Ejecución Diaria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Asignación inteligente de tareas, semaforización de prioridades y seguimiento en tiempo real.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3328416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PASO 01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Asignación Dinámica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Delegue actividades específicas a colaboradores individuales o equipos de trabajo, estableciendo fecha límite y descripción puntual de lo requerido.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920240"/>
            <a:ext cx="3328416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PASO 02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Semaforización por Prioridad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Clasificación inmediata en Alta (Urgente), Media y Baja prioridad, permitiendo que el personal se enfoque en lo verdaderamente crítico.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920240"/>
            <a:ext cx="3328416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PASO 03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Filtros y Métricas en Vivo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Filtre por colaborador o estatus: Pendientes vs. Completadas. Los directivos obtienen métricas instantáneas de productividad sin interrumpir.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66360"/>
            <a:ext cx="10728655" cy="114300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82880" rIns="36576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D4ED8"/>
                </a:solidFill>
                <a:latin typeface="Segoe UI"/>
              </a:defRPr>
            </a:pPr>
            <a:r>
              <a:t>VALOR DIFERENCIAL PARA SU EMPRESA:</a:t>
            </a:r>
          </a:p>
          <a:p>
            <a:pPr>
              <a:defRPr sz="1150">
                <a:solidFill>
                  <a:srgbClr val="0F172A"/>
                </a:solidFill>
                <a:latin typeface="Segoe UI"/>
              </a:defRPr>
            </a:pPr>
            <a:r>
              <a:t>Elimina por completo el síndrome del 'no sabía que me tocaba a mí'. Cada empleado ve exactamente su lista del día y la dirección mantiene el pulso de los avances sin necesidad de reuniones de estatus constantes.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COMUNICACIÓN INTERNA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Chat Corporativo Seguro: Comunicación en Tiempo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Mensajería instantánea empresarial integrada, separando el trabajo de las redes sociales personales.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62179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4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CAPACIDADES PRINCIPALES DEL CHAT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Canales y Grupos Temáticos: </a:t>
            </a:r>
            <a:r>
              <a:rPr sz="1050" b="0">
                <a:solidFill>
                  <a:srgbClr val="475569"/>
                </a:solidFill>
                <a:latin typeface="Segoe UI"/>
              </a:rPr>
              <a:t>Cree canales generales (#general) o grupos dedicados por área o proyecto para mantener las conversaciones ordenadas por tema.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Transferencia Segura de Documentos: </a:t>
            </a:r>
            <a:r>
              <a:rPr sz="1050" b="0">
                <a:solidFill>
                  <a:srgbClr val="475569"/>
                </a:solidFill>
                <a:latin typeface="Segoe UI"/>
              </a:rPr>
              <a:t>Adjunte comprobantes, facturas, fotos y archivos directamente en la conversación con previsualización inmediata.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Notificaciones y Contador de Mensajes: </a:t>
            </a:r>
            <a:r>
              <a:rPr sz="1050" b="0">
                <a:solidFill>
                  <a:srgbClr val="475569"/>
                </a:solidFill>
                <a:latin typeface="Segoe UI"/>
              </a:rPr>
              <a:t>Insignias numéricas con el contador de no leídos para que ningún requerimiento urgente pase desapercibido.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Sincronización Multidispositivo: </a:t>
            </a:r>
            <a:r>
              <a:rPr sz="1050" b="0">
                <a:solidFill>
                  <a:srgbClr val="475569"/>
                </a:solidFill>
                <a:latin typeface="Segoe UI"/>
              </a:rPr>
              <a:t>Continúe su conversación en la oficina desde la web o en la calle desde la app de iOS o Android.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920240"/>
            <a:ext cx="4114800" cy="2057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74320" rIns="32004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3B82F6"/>
                </a:solidFill>
                <a:latin typeface="Segoe UI"/>
              </a:defRPr>
            </a:pPr>
            <a:r>
              <a:t>BLINDAJE DE INFORMACIÓN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 diferencia de WhatsApp, si un colaborador se retira de la empresa, los datos, historiales de chat y documentos permanecen en la nube de la compañía y se revocan los accesos en un clic.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4251960"/>
            <a:ext cx="41148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74320" rIns="32004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CERO DISTRACCIONES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Entorno 100% profesional sin estados, historias ni chats familiares que desvíen la atención del personal durante la jornada laboral.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COMUNICACIÓN EXTERNA &amp; CLIENTES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Centro de Correos: Buzón Empresarial en el Mismo Entorno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Gestión centralizada de comunicaciones oficiales con clientes, proveedores y socios comerciales.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3328416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CARACTERÍSTICA 01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Bandeja Unificada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Visualice entradas y salidas de correos corporativos sin tener que abrir navegadores externos o clientes pesados. Todo está a un clic en el menú lateral.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920240"/>
            <a:ext cx="3328416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CARACTERÍSTICA 02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Panel de Lectura Ágil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Lector con soporte completo para visualización de textos, formato enriquecido y descarga inmediata de documentos adjuntos recibidos.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920240"/>
            <a:ext cx="3328416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CARACTERÍSTICA 03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Integración con Tareas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Convierta requerimientos que llegan por correo directamente en tareas asignables a miembros de su equipo de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66360"/>
            <a:ext cx="10728655" cy="1143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82880" rIns="36576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EFICIENCIA EN ATENCIÓN AL CLIENTE:</a:t>
            </a:r>
          </a:p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Al integrar el correo dentro de la suite operativa, el equipo responde más rápido a las cotizaciones y consultas clave, manteniendo informado a todo el departamento involucrado.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ORGANIZACIÓN CORPORATIVA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Módulo de Reuniones: Agenda y Coordinación Ejecutiva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Organice juntas de resultados, sesiones con clientes y comités internos sin traslapes de horarios.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5943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4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FUNCIONALIDADES DE LA AGENDA EMPRESARIAL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Agendamiento Rápido de Juntas: </a:t>
            </a:r>
            <a:r>
              <a:rPr sz="1050" b="0">
                <a:solidFill>
                  <a:srgbClr val="475569"/>
                </a:solidFill>
                <a:latin typeface="Segoe UI"/>
              </a:rPr>
              <a:t>Defina fecha, horario, título y objetivos de la reunión en segundos.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Convocatoria a Participantes: </a:t>
            </a:r>
            <a:r>
              <a:rPr sz="1050" b="0">
                <a:solidFill>
                  <a:srgbClr val="475569"/>
                </a:solidFill>
                <a:latin typeface="Segoe UI"/>
              </a:rPr>
              <a:t>Asigne a los colaboradores requeridos y notifíquelos automáticamente en sus dispositivos.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Enlaces a Videoconferencias: </a:t>
            </a:r>
            <a:r>
              <a:rPr sz="1050" b="0">
                <a:solidFill>
                  <a:srgbClr val="475569"/>
                </a:solidFill>
                <a:latin typeface="Segoe UI"/>
              </a:rPr>
              <a:t>Soporte para adjuntar ligas de Zoom, Google Meet o Teams para reuniones virtuales o presenciales.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Historial de Próximas Citas: </a:t>
            </a:r>
            <a:r>
              <a:rPr sz="1050" b="0">
                <a:solidFill>
                  <a:srgbClr val="475569"/>
                </a:solidFill>
                <a:latin typeface="Segoe UI"/>
              </a:rPr>
              <a:t>Lista ordenada cronológicamente de compromisos para que la dirección y el equipo tengan visibilidad semanal.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920240"/>
            <a:ext cx="43891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74320" rIns="32004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PUNTUALIDAD Y CERO CONFUSIÓN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Se acabaron los correos cruzados preguntando '¿a qué hora era la junta?'. Todo el personal tiene su calendario sincronizado en el bolsillo a través de la 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4251960"/>
            <a:ext cx="4389120" cy="205740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74320" rIns="32004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MINUTAS VINCULADAS A TAREAS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Los acuerdos alcanzados durante la sesión se convierten inmediatamente en tareas asignadas en el módulo de productividad para garantizar su ejecución.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GESTIÓN FINANCIERA &amp; OPERATIVA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Módulo de Administración: Lo Esencial que Toda Empresa Necesita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Control financiero práctico, ágil y transparente sin sobrecargas burocráticas.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249631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PILAR 01</a:t>
            </a:r>
          </a:p>
          <a:p>
            <a:pPr>
              <a:spcAft>
                <a:spcPts val="10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FLUJO DE CAJA Y CAPITAL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Monitoreo claro y directo de ingresos vs. egresos, con balance por departamento para saber en todo momento la liquidez real de la compañía.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249631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74720" y="1920240"/>
            <a:ext cx="249631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3B82F6"/>
                </a:solidFill>
                <a:latin typeface="Segoe UI"/>
              </a:defRPr>
            </a:pPr>
            <a:r>
              <a:t>PILAR 02</a:t>
            </a:r>
          </a:p>
          <a:p>
            <a:pPr>
              <a:spcAft>
                <a:spcPts val="10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PROVEEDORES Y COMPRAS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Registro ordenado de cuentas por pagar, fechas de vencimiento de facturas y control de compras para evitar penalizaciones y mantener crédito sano.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920240"/>
            <a:ext cx="249631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49631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PILAR 03</a:t>
            </a:r>
          </a:p>
          <a:p>
            <a:pPr>
              <a:spcAft>
                <a:spcPts val="10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NÓMINA QUINCENAL BÁSICA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Control ágil de pagos a colaboradores por quincena, cálculo de sueldos netos, archivo histórico de nóminas y comprobantes por empleado.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249631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49631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600"/>
              </a:spcAft>
              <a:defRPr sz="1000" b="1">
                <a:solidFill>
                  <a:srgbClr val="1D4ED8"/>
                </a:solidFill>
                <a:latin typeface="Segoe UI"/>
              </a:defRPr>
            </a:pPr>
            <a:r>
              <a:t>PILAR 04</a:t>
            </a:r>
          </a:p>
          <a:p>
            <a:pPr>
              <a:spcAft>
                <a:spcPts val="10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CONSECUTIVO DE FOLIOS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Numeración consecutiva estricta para órdenes de servicio, notas de venta y facturas, asegurando orden contable y auditorías impecables.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920240"/>
            <a:ext cx="2496312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D1FAE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64592" rIns="365760" rtlCol="0" anchor="ctr"/>
          <a:lstStyle/>
          <a:p>
            <a:pPr algn="ctr">
              <a:spcAft>
                <a:spcPts val="300"/>
              </a:spcAft>
              <a:defRPr sz="1100" b="1">
                <a:solidFill>
                  <a:srgbClr val="047857"/>
                </a:solidFill>
                <a:latin typeface="Segoe UI"/>
              </a:defRPr>
            </a:pPr>
            <a:r>
              <a:t>DISEÑADO PARA LA OPERACIÓN REAL: CERO COMPLICACIONES</a:t>
            </a:r>
          </a:p>
          <a:p>
            <a:pPr>
              <a:defRPr sz="1100">
                <a:solidFill>
                  <a:srgbClr val="064E3B"/>
                </a:solidFill>
                <a:latin typeface="Segoe UI"/>
              </a:defRPr>
            </a:pPr>
            <a:r>
              <a:t>Sin catálogos contables de miles de cuentas ni procesos engorrosos. Brinda la información financiera exacta que necesita el dueño y gerente para decidir en segundos.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SEGURIDAD Y GOBIERNO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Usuarios y Permisos: Privacidad y Jerarquía Corporativa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Control total sobre quién puede ver y modificar la información confidencial de la empresa.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ROLES JERÁRQUICOS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Directores y Gerentes:</a:t>
            </a:r>
            <a:br/>
            <a:r>
              <a:rPr sz="1000" b="0">
                <a:solidFill>
                  <a:srgbClr val="475569"/>
                </a:solidFill>
                <a:latin typeface="Segoe UI"/>
              </a:rPr>
              <a:t>Acceso irrestricto a balances, nóminas, reportes globales y altas de personal.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Supervisores y Coordinadores:</a:t>
            </a:r>
            <a:br/>
            <a:r>
              <a:rPr sz="1000" b="0">
                <a:solidFill>
                  <a:srgbClr val="475569"/>
                </a:solidFill>
                <a:latin typeface="Segoe UI"/>
              </a:rPr>
              <a:t>Control de asignación de tareas, seguimiento de metas y reuniones de equipo.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Colaboradores Operativos:</a:t>
            </a:r>
            <a:br/>
            <a:r>
              <a:rPr sz="1000" b="0">
                <a:solidFill>
                  <a:srgbClr val="475569"/>
                </a:solidFill>
                <a:latin typeface="Segoe UI"/>
              </a:rPr>
              <a:t>Vista enfocada en sus tareas asignadas, chat y calendario sin ver datos financieros sensibles.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92024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3B82F6"/>
                </a:solidFill>
                <a:latin typeface="Segoe UI"/>
              </a:defRPr>
            </a:pPr>
            <a:r>
              <a:t>SEGURIDAD EN LA NUBE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Infraestructura Cloud Robusta:</a:t>
            </a:r>
            <a:br/>
            <a:r>
              <a:rPr sz="1000" b="0">
                <a:solidFill>
                  <a:srgbClr val="475569"/>
                </a:solidFill>
                <a:latin typeface="Segoe UI"/>
              </a:rPr>
              <a:t>Base de datos en la nube con réplicas automáticas y alta disponibilidad 99.9%.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Cifrado de Comunicaciones:</a:t>
            </a:r>
            <a:br/>
            <a:r>
              <a:rPr sz="1000" b="0">
                <a:solidFill>
                  <a:srgbClr val="475569"/>
                </a:solidFill>
                <a:latin typeface="Segoe UI"/>
              </a:rPr>
              <a:t>Protocolos SSL/TLS en cada intercambio de mensajes y archivos adjuntos.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Acceso con Credenciales Seguras:</a:t>
            </a:r>
            <a:br/>
            <a:r>
              <a:rPr sz="1000" b="0">
                <a:solidFill>
                  <a:srgbClr val="475569"/>
                </a:solidFill>
                <a:latin typeface="Segoe UI"/>
              </a:rPr>
              <a:t>Autenticación segura para evitar accesos indebidos de personas ajenas a la organización.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920240"/>
            <a:ext cx="3328416" cy="4389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BENEFICIO CLAVE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Tranquilidad Total para la Dirección: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La dirección de la empresa puede delegar con confianza el uso diario de la plataforma a todo su equipo, teniendo la absoluta certeza de que los datos financieros, nóminas y balances solo son visibles para los usuarios autorizados.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EXPERIENCIA MÓVIL NATIVA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Su Empresa en la Palma de la Mano: Disponible para iOS y Android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Acceda a todos los módulos y supervise su negocio desde cualquier teléfono o tableta en cualquier momento.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5120640" cy="4389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APPLE iOS (iPhone &amp; iPad)</a:t>
            </a:r>
          </a:p>
          <a:p>
            <a:pPr>
              <a:spcAft>
                <a:spcPts val="10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- Optimizado para iOS y iPadOS: </a:t>
            </a:r>
            <a:r>
              <a:rPr sz="1050">
                <a:solidFill>
                  <a:srgbClr val="94A3B8"/>
                </a:solidFill>
                <a:latin typeface="Segoe UI"/>
              </a:rPr>
              <a:t>Interfaz fluida diseñada para aprovechar la potencia de los dispositivos Apple.</a:t>
            </a:r>
          </a:p>
          <a:p>
            <a:pPr>
              <a:spcAft>
                <a:spcPts val="10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- Notificaciones Push Inmediatas: </a:t>
            </a:r>
            <a:r>
              <a:rPr sz="1050">
                <a:solidFill>
                  <a:srgbClr val="94A3B8"/>
                </a:solidFill>
                <a:latin typeface="Segoe UI"/>
              </a:rPr>
              <a:t>Enterese al instante de nuevas tareas urgentes, mensajes de clientes y juntas agendadas.</a:t>
            </a:r>
          </a:p>
          <a:p>
            <a:pPr>
              <a:spcAft>
                <a:spcPts val="10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- Modo Portátil para Ejecutivos: </a:t>
            </a:r>
            <a:r>
              <a:rPr sz="1050">
                <a:solidFill>
                  <a:srgbClr val="94A3B8"/>
                </a:solidFill>
                <a:latin typeface="Segoe UI"/>
              </a:rPr>
              <a:t>Revise estados de cuenta y apruebe requerimientos durante viajes o traslados.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GOOGLE ANDROID (Smartphones &amp; Tablets)</a:t>
            </a:r>
          </a:p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- Compatibilidad Universal: </a:t>
            </a:r>
            <a:r>
              <a:rPr sz="1050">
                <a:solidFill>
                  <a:srgbClr val="94A3B8"/>
                </a:solidFill>
                <a:latin typeface="Segoe UI"/>
              </a:rPr>
              <a:t>Funciona en toda la gama de teléfonos Samsung, Xiaomi, Motorola, etc.</a:t>
            </a:r>
          </a:p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- Ideal para Personal en Campo: </a:t>
            </a:r>
            <a:r>
              <a:rPr sz="1050">
                <a:solidFill>
                  <a:srgbClr val="94A3B8"/>
                </a:solidFill>
                <a:latin typeface="Segoe UI"/>
              </a:rPr>
              <a:t>Choferes, supervisores de obra, vendedores y técnicos reportan avances desde donde estén.</a:t>
            </a:r>
          </a:p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- Bajo Consumo de Datos: </a:t>
            </a:r>
            <a:r>
              <a:rPr sz="1050">
                <a:solidFill>
                  <a:srgbClr val="94A3B8"/>
                </a:solidFill>
                <a:latin typeface="Segoe UI"/>
              </a:rPr>
              <a:t>Arquitectura ligera que permite operar con fluidez incluso con conexiones móviles estándar.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ECOSISTEMA TECNOLÓGICO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Sinergia con Soluciones Especializadas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Conectividad nativa con aplicaciones de alto valor para operaciones logísticas y de carga.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APLICACIÓN SATÉLITE 01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RODITRACK | Rastreo de Envíos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Seguimiento Satelital en Tiempo Real: </a:t>
            </a:r>
            <a:r>
              <a:rPr sz="1050">
                <a:solidFill>
                  <a:srgbClr val="475569"/>
                </a:solidFill>
                <a:latin typeface="Segoe UI"/>
              </a:rPr>
              <a:t>Monitoreo preciso de trayectos, unidades y estados de entrega.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Trazabilidad Completa para Clientes: </a:t>
            </a:r>
            <a:r>
              <a:rPr sz="1050">
                <a:solidFill>
                  <a:srgbClr val="475569"/>
                </a:solidFill>
                <a:latin typeface="Segoe UI"/>
              </a:rPr>
              <a:t>Permite que los clientes consulten el estatus de sus pedidos de forma transparente.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Conexión con Operaciones: </a:t>
            </a:r>
            <a:r>
              <a:rPr sz="1050">
                <a:solidFill>
                  <a:srgbClr val="475569"/>
                </a:solidFill>
                <a:latin typeface="Segoe UI"/>
              </a:rPr>
              <a:t>Vínculo directo con el módulo de operaciones y tareas de ADMOND.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3B82F6"/>
                </a:solidFill>
                <a:latin typeface="Segoe UI"/>
              </a:defRPr>
            </a:pPr>
            <a:r>
              <a:t>APLICACIÓN SATÉLITE 02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RODILOAD | Optimización Volumétrica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Cubicación Inteligente en 3D: </a:t>
            </a:r>
            <a:r>
              <a:rPr sz="1050">
                <a:solidFill>
                  <a:srgbClr val="475569"/>
                </a:solidFill>
                <a:latin typeface="Segoe UI"/>
              </a:rPr>
              <a:t>Cálculo matemático de acomodo de mercancía en camiones, contenedores o tarimas.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Ahorro de Costos Logísticos: </a:t>
            </a:r>
            <a:r>
              <a:rPr sz="1050">
                <a:solidFill>
                  <a:srgbClr val="475569"/>
                </a:solidFill>
                <a:latin typeface="Segoe UI"/>
              </a:rPr>
              <a:t>Maximice el espacio disponible de transporte y reduzca el número de viajes necesarios.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- Reportes Técnicos de Carga: </a:t>
            </a:r>
            <a:r>
              <a:rPr sz="1050">
                <a:solidFill>
                  <a:srgbClr val="475569"/>
                </a:solidFill>
                <a:latin typeface="Segoe UI"/>
              </a:rPr>
              <a:t>Generación de diagramas de estiba para el personal de almacén.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IMPACTO COMERCIAL Y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¿Qué Gana su Empresa al Implementar ADMOND?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Resultados tangibles y medibles desde el primer mes de operación.</a:t>
            </a:r>
          </a:p>
        </p:txBody>
      </p:sp>
      <p:pic>
        <p:nvPicPr>
          <p:cNvPr id="6" name="Picture 5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457200"/>
            <a:ext cx="594360" cy="594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920240"/>
            <a:ext cx="2496312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+35% DE PRODUCTIVIDAD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El personal reduce horas perdidas en juntas innecesarias y búsquedas de archivos; cada quien tiene su lista clara de trabajo.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249631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74720" y="1920240"/>
            <a:ext cx="2496312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100% CONTROL DE PAGOS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Eliminación de pagos duplicados o retrasados a proveedores mediante la administración quincenal de tesorería.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920240"/>
            <a:ext cx="249631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496312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3B82F6"/>
                </a:solidFill>
                <a:latin typeface="Segoe UI"/>
              </a:defRPr>
            </a:pPr>
            <a:r>
              <a:t>RESPUESTA AL CLIENTE 2X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Al tener correos, chat y tareas en una sola pantalla, la velocidad para cotizar y atender clientes se duplica.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249631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496312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1D4ED8"/>
                </a:solidFill>
                <a:latin typeface="Segoe UI"/>
              </a:defRPr>
            </a:pPr>
            <a:r>
              <a:t>REDUCCIÓN DE COSTOS IT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Sustituya múltiples suscripciones aisladas (gestor de tareas, chat corporativo, etc.) por una sola solución integral.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920240"/>
            <a:ext cx="2496312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2563EB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64592" rIns="365760" rtlCol="0" anchor="ctr"/>
          <a:lstStyle/>
          <a:p>
            <a:pPr algn="ctr">
              <a:spcAft>
                <a:spcPts val="300"/>
              </a:spcAft>
              <a:defRPr sz="1100" b="1">
                <a:solidFill>
                  <a:srgbClr val="DBEAFE"/>
                </a:solidFill>
                <a:latin typeface="Segoe UI"/>
              </a:defRPr>
            </a:pPr>
            <a:r>
              <a:t>LA TRANQUILIDAD DE TENER SU NEGOCIO BAJO CONTROL:</a:t>
            </a:r>
          </a:p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Tanto si está en su escritorio como si viaja o atiende clientes fuera de la oficina, basta con abrir su teléfono iOS o Android para conocer el pulso real de su compañía en tiempo real.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 inte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TRANSFORME LA GESTIÓN DE SU EMPRESA HOY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¿Listo para Dar el Siguiente Paso en Eficiencia?</a:t>
            </a:r>
          </a:p>
          <a:p>
            <a:pPr>
              <a:defRPr sz="1500">
                <a:solidFill>
                  <a:srgbClr val="94A3B8"/>
                </a:solidFill>
                <a:latin typeface="Segoe UI"/>
              </a:defRPr>
            </a:pPr>
            <a:r>
              <a:t>Agende una demostración personalizada con los flujos reales de su negocio. Implementación rápida, soporte continuo y disponibilidad total en Web, iOS y Android.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63440"/>
            <a:ext cx="3328416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Sesión Demo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Demostración interactiva guiada para su equipo directivo.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62856" y="4663440"/>
            <a:ext cx="3328416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3B82F6"/>
                </a:solidFill>
                <a:latin typeface="Segoe UI"/>
              </a:defRPr>
            </a:pPr>
            <a:r>
              <a:t>2. Configuración Ágil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Alta de colaboradores, roles y personalización de flujos.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11312" y="4663440"/>
            <a:ext cx="3328416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3. Despliegue Móvil &amp; Web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Su equipo operando de inmediato en iOS, Android y Navegador.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2036</Words>
  <Application>Microsoft Office PowerPoint</Application>
  <PresentationFormat>Panorámica</PresentationFormat>
  <Paragraphs>172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Maria de Jesus Perez Arana</cp:lastModifiedBy>
  <cp:revision>1</cp:revision>
  <dcterms:created xsi:type="dcterms:W3CDTF">2013-01-27T09:14:16Z</dcterms:created>
  <dcterms:modified xsi:type="dcterms:W3CDTF">2026-10-05T15:54:10Z</dcterms:modified>
  <cp:category/>
</cp:coreProperties>
</file>